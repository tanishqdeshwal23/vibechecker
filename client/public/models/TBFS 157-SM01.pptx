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62" r:id="rId4"/>
    <p:sldId id="263" r:id="rId5"/>
    <p:sldId id="264" r:id="rId6"/>
    <p:sldId id="265" r:id="rId7"/>
    <p:sldId id="267" r:id="rId8"/>
    <p:sldId id="268" r:id="rId9"/>
    <p:sldId id="272" r:id="rId10"/>
    <p:sldId id="269" r:id="rId11"/>
    <p:sldId id="270" r:id="rId12"/>
    <p:sldId id="271" r:id="rId13"/>
    <p:sldId id="273" r:id="rId14"/>
    <p:sldId id="274" r:id="rId15"/>
    <p:sldId id="275" r:id="rId16"/>
    <p:sldId id="276" r:id="rId17"/>
    <p:sldId id="277" r:id="rId18"/>
    <p:sldId id="278"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322" autoAdjust="0"/>
    <p:restoredTop sz="94660"/>
  </p:normalViewPr>
  <p:slideViewPr>
    <p:cSldViewPr snapToGrid="0">
      <p:cViewPr varScale="1">
        <p:scale>
          <a:sx n="87" d="100"/>
          <a:sy n="87" d="100"/>
        </p:scale>
        <p:origin x="38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4DCA00-0E90-E3FC-DA7C-CD980CE2AE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E9AFD3B-BD84-3660-4BB6-150E5F0C27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A838BE6A-1414-9AC9-6BF9-F34C0D42F8C1}"/>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5" name="Footer Placeholder 4">
            <a:extLst>
              <a:ext uri="{FF2B5EF4-FFF2-40B4-BE49-F238E27FC236}">
                <a16:creationId xmlns:a16="http://schemas.microsoft.com/office/drawing/2014/main" xmlns="" id="{075BD882-1BEC-1B1B-1591-3DD26677F8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D7AE9FD-AB6B-3C34-8BC5-7A703A448A71}"/>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2008621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D1F486-2F3E-DE29-63B7-9A608EAB78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D7D7D03-8351-DC44-1741-F12C758A50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BBE18A5-0C0F-44AB-1A33-E44D7CA19606}"/>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5" name="Footer Placeholder 4">
            <a:extLst>
              <a:ext uri="{FF2B5EF4-FFF2-40B4-BE49-F238E27FC236}">
                <a16:creationId xmlns:a16="http://schemas.microsoft.com/office/drawing/2014/main" xmlns="" id="{B22F5076-0FAE-3634-C5B6-67B8BD42D8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B338CAF-0F0C-C057-F8C4-D06BB1CFD491}"/>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227283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AB4BA3-C702-3CF1-D0B1-CF2C4C5B4F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1B56E75-FC8D-EBE1-5304-A3A0EDF19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D3BB61F-04BB-BE61-65A8-AB33A05FD241}"/>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5" name="Footer Placeholder 4">
            <a:extLst>
              <a:ext uri="{FF2B5EF4-FFF2-40B4-BE49-F238E27FC236}">
                <a16:creationId xmlns:a16="http://schemas.microsoft.com/office/drawing/2014/main" xmlns="" id="{46556385-15A6-E654-203D-3A3C59A671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6B24022-5DBB-CFF5-E09A-12DED454F131}"/>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4095866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BB009F-18D8-653C-D355-5CD22E4C8D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4754CE5-8BD6-5A07-C356-5B025B09FE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41258EC5-1B2C-2AA2-8BCE-28EED5D346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4EC8DE91-4558-17F5-537B-D94B1B4FE8B5}"/>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6" name="Footer Placeholder 5">
            <a:extLst>
              <a:ext uri="{FF2B5EF4-FFF2-40B4-BE49-F238E27FC236}">
                <a16:creationId xmlns:a16="http://schemas.microsoft.com/office/drawing/2014/main" xmlns="" id="{E1001643-882A-1FE7-8068-278B6BAF55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8C695A8-586B-7110-ADAA-3EDDC447DA6F}"/>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516018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F0B86B-62F0-09C9-D28E-3BCC886D93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CFB3F6D-645E-AF49-2414-57FFD675D1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3CD3C83-49C6-85AD-C730-E3919B4C6B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EC8B27D4-6287-82D2-F7D9-F824778280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DB3570E-5A5A-22FB-9FEF-07749BB2AF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1539F406-CFC6-1E5E-A622-A91A6CC0F92A}"/>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8" name="Footer Placeholder 7">
            <a:extLst>
              <a:ext uri="{FF2B5EF4-FFF2-40B4-BE49-F238E27FC236}">
                <a16:creationId xmlns:a16="http://schemas.microsoft.com/office/drawing/2014/main" xmlns="" id="{F2DC2C57-4D70-EB90-BE43-B3302D12EF7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FC02C813-DECE-3035-D1CA-CEF8C404D3BC}"/>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351386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B486D7-E88D-0C87-1331-420AFC8DF7F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979D8BBF-58A2-1BB3-14D6-49EC069C1FC6}"/>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4" name="Footer Placeholder 3">
            <a:extLst>
              <a:ext uri="{FF2B5EF4-FFF2-40B4-BE49-F238E27FC236}">
                <a16:creationId xmlns:a16="http://schemas.microsoft.com/office/drawing/2014/main" xmlns="" id="{BD9B235C-52E3-2454-3C55-B241376DE71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769BA357-DBF2-AB17-FCEF-AC495222A27E}"/>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367438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0A498E7-7D70-A0D8-4B53-83F8F1C84CCF}"/>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3" name="Footer Placeholder 2">
            <a:extLst>
              <a:ext uri="{FF2B5EF4-FFF2-40B4-BE49-F238E27FC236}">
                <a16:creationId xmlns:a16="http://schemas.microsoft.com/office/drawing/2014/main" xmlns="" id="{2F3EF2DB-6A4B-A20F-9AFD-D130B5BD08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E575A2D9-C6E6-CB19-F87E-BC97F114C2E6}"/>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3848939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0F2BC5-CE29-4E99-E97A-95929994A8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B938049-8DAD-D97B-50CB-16BC5A1D55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F03EA98F-6B1D-0C18-3A94-C5B49762EF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5CF2185-3B7F-5DCE-9FC5-F0F1B5B962CB}"/>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6" name="Footer Placeholder 5">
            <a:extLst>
              <a:ext uri="{FF2B5EF4-FFF2-40B4-BE49-F238E27FC236}">
                <a16:creationId xmlns:a16="http://schemas.microsoft.com/office/drawing/2014/main" xmlns="" id="{CDDAC233-9711-D558-4D91-3CDB401874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E5D6E26-3E54-F234-6784-7C4E4F4FE7F9}"/>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950341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FE33C7-0673-7B17-0E72-4D95C1ED05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FF09622-311A-CE6F-1CA7-C18D901315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8481C07-D100-45BB-5F19-C6647C730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B551DBF-CC1E-CA34-CE76-9AF5045345AA}"/>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6" name="Footer Placeholder 5">
            <a:extLst>
              <a:ext uri="{FF2B5EF4-FFF2-40B4-BE49-F238E27FC236}">
                <a16:creationId xmlns:a16="http://schemas.microsoft.com/office/drawing/2014/main" xmlns="" id="{1ED8381C-F25C-0B1B-B66C-BE3C752F09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2845E1E-3098-17EE-88A0-1134F024D344}"/>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3364395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7DC875-8A29-940D-C6F6-5CD0E5F72F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541DC70-2FBC-01D7-8D06-958778EEE4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5A92D5C-4D9F-E76E-F47D-697C6AAD5E9C}"/>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5" name="Footer Placeholder 4">
            <a:extLst>
              <a:ext uri="{FF2B5EF4-FFF2-40B4-BE49-F238E27FC236}">
                <a16:creationId xmlns:a16="http://schemas.microsoft.com/office/drawing/2014/main" xmlns="" id="{75A8C01C-7B4A-3F29-880C-DD3E7DFECD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D28C846-3655-B6B7-0E69-10116A7A2AA9}"/>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3798668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AA1039A-77CC-C22D-09BB-48991919DE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E9A370A-3205-CB83-176C-D7B6818054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D975F2A-DFFF-31DF-F90B-BB7773F0CE70}"/>
              </a:ext>
            </a:extLst>
          </p:cNvPr>
          <p:cNvSpPr>
            <a:spLocks noGrp="1"/>
          </p:cNvSpPr>
          <p:nvPr>
            <p:ph type="dt" sz="half" idx="10"/>
          </p:nvPr>
        </p:nvSpPr>
        <p:spPr/>
        <p:txBody>
          <a:bodyPr/>
          <a:lstStyle/>
          <a:p>
            <a:fld id="{E7E152A0-160A-421E-AA98-D82837955676}" type="datetimeFigureOut">
              <a:rPr lang="en-IN" smtClean="0"/>
              <a:t>14-01-2026</a:t>
            </a:fld>
            <a:endParaRPr lang="en-IN"/>
          </a:p>
        </p:txBody>
      </p:sp>
      <p:sp>
        <p:nvSpPr>
          <p:cNvPr id="5" name="Footer Placeholder 4">
            <a:extLst>
              <a:ext uri="{FF2B5EF4-FFF2-40B4-BE49-F238E27FC236}">
                <a16:creationId xmlns:a16="http://schemas.microsoft.com/office/drawing/2014/main" xmlns="" id="{3B454603-6601-FA4E-3300-CC99A2BC95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8BBEDC4-02C5-F430-249B-C8910B978FE7}"/>
              </a:ext>
            </a:extLst>
          </p:cNvPr>
          <p:cNvSpPr>
            <a:spLocks noGrp="1"/>
          </p:cNvSpPr>
          <p:nvPr>
            <p:ph type="sldNum" sz="quarter" idx="12"/>
          </p:nvPr>
        </p:nvSpPr>
        <p:spPr/>
        <p:txBody>
          <a:bodyPr/>
          <a:lstStyle/>
          <a:p>
            <a:fld id="{C8AABC8B-1952-4C2F-910C-67357C57D07F}" type="slidenum">
              <a:rPr lang="en-IN" smtClean="0"/>
              <a:t>‹#›</a:t>
            </a:fld>
            <a:endParaRPr lang="en-IN"/>
          </a:p>
        </p:txBody>
      </p:sp>
    </p:spTree>
    <p:extLst>
      <p:ext uri="{BB962C8B-B14F-4D97-AF65-F5344CB8AC3E}">
        <p14:creationId xmlns:p14="http://schemas.microsoft.com/office/powerpoint/2010/main" val="501785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2F71F1-0A03-8B1C-34A3-759F6F0063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3A31664-53E5-9AA5-E332-B24AF10730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23DFEA0-A090-F2BD-68D9-2C140D7B4DD7}"/>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5" name="Footer Placeholder 4">
            <a:extLst>
              <a:ext uri="{FF2B5EF4-FFF2-40B4-BE49-F238E27FC236}">
                <a16:creationId xmlns:a16="http://schemas.microsoft.com/office/drawing/2014/main" xmlns="" id="{3D4B5E41-0F2C-CF29-05D5-176F8D1F53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F53D56B-C9BC-285F-D0C5-D6AD724CF707}"/>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5263077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A0E175-A945-79DA-45A3-7177FC2105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18ABF50-4250-09E8-7C96-24DC409C22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9E99A12-69F4-1847-168D-C6807DBC12F1}"/>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5" name="Footer Placeholder 4">
            <a:extLst>
              <a:ext uri="{FF2B5EF4-FFF2-40B4-BE49-F238E27FC236}">
                <a16:creationId xmlns:a16="http://schemas.microsoft.com/office/drawing/2014/main" xmlns="" id="{96B8F480-8E63-C0C6-FC85-759EC451C3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F8FE0B7-160E-4008-1C6F-7D530AC7DAD0}"/>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398555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E40402-DEF2-CA48-BB4E-99A60CC0A8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0646302-242F-D646-16FC-2438773F2B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8DFFB65-255A-1363-F4F0-7B50A2B277E0}"/>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5" name="Footer Placeholder 4">
            <a:extLst>
              <a:ext uri="{FF2B5EF4-FFF2-40B4-BE49-F238E27FC236}">
                <a16:creationId xmlns:a16="http://schemas.microsoft.com/office/drawing/2014/main" xmlns="" id="{7B6AFAA4-3BA2-31C1-88FA-F9D5675FEB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0D6A828-4ECD-3B52-22F8-7A801C5DBCC7}"/>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600821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C88E6A-F6F8-EC2B-89CD-F2219E4B69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16F946E-9728-6272-0306-9EC74DA333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1FBC6BAA-F8CF-E5CD-CFB6-9F2F2E3490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1F0A6DFA-D036-2072-DE53-489C3EC92893}"/>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6" name="Footer Placeholder 5">
            <a:extLst>
              <a:ext uri="{FF2B5EF4-FFF2-40B4-BE49-F238E27FC236}">
                <a16:creationId xmlns:a16="http://schemas.microsoft.com/office/drawing/2014/main" xmlns="" id="{B4DC3D6B-BE12-FA6F-323E-D591F84E09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1C2DA0B-94F8-7DB6-1BC9-2CDD597E6DFF}"/>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10388401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3919E6-A832-14AA-A04E-CC6A86F767B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8BFD121-54A2-8B02-F50F-478B7CDC28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79AA7A8-B2F5-0E60-F020-A3659C555B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A87C3E74-14FA-16CA-FF2B-EFCA969B2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FB15BC5-91CA-CB36-D202-016932455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8FEC68EB-8561-B88E-9BCB-5DF4DCFB6954}"/>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8" name="Footer Placeholder 7">
            <a:extLst>
              <a:ext uri="{FF2B5EF4-FFF2-40B4-BE49-F238E27FC236}">
                <a16:creationId xmlns:a16="http://schemas.microsoft.com/office/drawing/2014/main" xmlns="" id="{F4B4936B-8DDD-C92F-E704-4D156B0349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4BA13E1C-894F-96D3-6DB0-2AC78F0EE187}"/>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9272833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8A0611-094F-83D6-CE4D-41FAA343B2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CD49E932-9652-F7CB-F51C-615880BD09AC}"/>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4" name="Footer Placeholder 3">
            <a:extLst>
              <a:ext uri="{FF2B5EF4-FFF2-40B4-BE49-F238E27FC236}">
                <a16:creationId xmlns:a16="http://schemas.microsoft.com/office/drawing/2014/main" xmlns="" id="{AD33F11F-919D-92A4-265B-9B505174BA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250B74E2-8BF4-7FB1-A528-6F4FBF0A84E5}"/>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36131803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3E57B48-CDCE-4197-0565-36C2FD6EBBA2}"/>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3" name="Footer Placeholder 2">
            <a:extLst>
              <a:ext uri="{FF2B5EF4-FFF2-40B4-BE49-F238E27FC236}">
                <a16:creationId xmlns:a16="http://schemas.microsoft.com/office/drawing/2014/main" xmlns="" id="{08C965FF-CD22-06CB-D107-9019CC65FD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B6D45B87-46D1-1FF1-B227-04B26C05637F}"/>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1049288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B27102-C5C6-DE9E-93E2-19F69C93E2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3FD80CA-D790-E949-719A-1CFD20E739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814099B2-B01A-74E2-0C49-484F7676F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4C5A4AC-1FAB-AEC2-DE22-F6051F94B550}"/>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6" name="Footer Placeholder 5">
            <a:extLst>
              <a:ext uri="{FF2B5EF4-FFF2-40B4-BE49-F238E27FC236}">
                <a16:creationId xmlns:a16="http://schemas.microsoft.com/office/drawing/2014/main" xmlns="" id="{1AA0C00A-B07B-B7B1-1318-B1C997951A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27A6492-1368-5F66-6B47-F044C796B0B5}"/>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3617043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907568-2E4D-B91D-0F48-979D816687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EF71AA9-24B3-E9AD-6700-311B5C5851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6DA03E0-F3DC-265B-BB65-FEF9A69F3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6E97548-99B1-4CA7-E4D5-8B680E4E7A52}"/>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6" name="Footer Placeholder 5">
            <a:extLst>
              <a:ext uri="{FF2B5EF4-FFF2-40B4-BE49-F238E27FC236}">
                <a16:creationId xmlns:a16="http://schemas.microsoft.com/office/drawing/2014/main" xmlns="" id="{557CBFE0-A513-5F0C-971A-9FC52CBF5B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4537827-9491-81BC-08A3-0AE2AEB1693A}"/>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27002430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BC1562-4C29-E694-DDB1-6CB2F0A34A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001221B-8EB6-337F-BDA5-595DF809F0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4778086-404C-D57D-1BF3-E0595219750A}"/>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5" name="Footer Placeholder 4">
            <a:extLst>
              <a:ext uri="{FF2B5EF4-FFF2-40B4-BE49-F238E27FC236}">
                <a16:creationId xmlns:a16="http://schemas.microsoft.com/office/drawing/2014/main" xmlns="" id="{B4F7E5E0-03A0-BA07-CE8B-A4DE750E9F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57545D0-CE98-E972-2DC9-C6963F220971}"/>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33323838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DEA6957-9429-D570-0415-2CEB7D9DFB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081B2D1-00DB-9988-5E3D-D73755EBD8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D70B0A7-7D88-F43E-712F-4D516EB150FB}"/>
              </a:ext>
            </a:extLst>
          </p:cNvPr>
          <p:cNvSpPr>
            <a:spLocks noGrp="1"/>
          </p:cNvSpPr>
          <p:nvPr>
            <p:ph type="dt" sz="half" idx="10"/>
          </p:nvPr>
        </p:nvSpPr>
        <p:spPr/>
        <p:txBody>
          <a:bodyPr/>
          <a:lstStyle/>
          <a:p>
            <a:fld id="{887EF4FE-D6FC-4B31-8112-0FC976A4B836}" type="datetimeFigureOut">
              <a:rPr lang="en-IN" smtClean="0"/>
              <a:t>14-01-2026</a:t>
            </a:fld>
            <a:endParaRPr lang="en-IN"/>
          </a:p>
        </p:txBody>
      </p:sp>
      <p:sp>
        <p:nvSpPr>
          <p:cNvPr id="5" name="Footer Placeholder 4">
            <a:extLst>
              <a:ext uri="{FF2B5EF4-FFF2-40B4-BE49-F238E27FC236}">
                <a16:creationId xmlns:a16="http://schemas.microsoft.com/office/drawing/2014/main" xmlns="" id="{D176EB9D-B583-0FED-B929-7EC89184D5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5CBA086-B61F-DF7C-B3B6-9F0A6035B86B}"/>
              </a:ext>
            </a:extLst>
          </p:cNvPr>
          <p:cNvSpPr>
            <a:spLocks noGrp="1"/>
          </p:cNvSpPr>
          <p:nvPr>
            <p:ph type="sldNum" sz="quarter" idx="12"/>
          </p:nvPr>
        </p:nvSpPr>
        <p:spPr/>
        <p:txBody>
          <a:bodyPr/>
          <a:lstStyle/>
          <a:p>
            <a:fld id="{027643DB-2C61-45DE-832E-5F96ABDFFD7E}" type="slidenum">
              <a:rPr lang="en-IN" smtClean="0"/>
              <a:t>‹#›</a:t>
            </a:fld>
            <a:endParaRPr lang="en-IN"/>
          </a:p>
        </p:txBody>
      </p:sp>
    </p:spTree>
    <p:extLst>
      <p:ext uri="{BB962C8B-B14F-4D97-AF65-F5344CB8AC3E}">
        <p14:creationId xmlns:p14="http://schemas.microsoft.com/office/powerpoint/2010/main" val="202927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2F14D14-8E25-93AC-3BFF-B1A1A9F169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6D6830D-E4B0-382D-F836-6CBA79C7BF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D52162D-A51A-9892-0F40-75F116906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E152A0-160A-421E-AA98-D82837955676}" type="datetimeFigureOut">
              <a:rPr lang="en-IN" smtClean="0"/>
              <a:t>14-01-2026</a:t>
            </a:fld>
            <a:endParaRPr lang="en-IN"/>
          </a:p>
        </p:txBody>
      </p:sp>
      <p:sp>
        <p:nvSpPr>
          <p:cNvPr id="5" name="Footer Placeholder 4">
            <a:extLst>
              <a:ext uri="{FF2B5EF4-FFF2-40B4-BE49-F238E27FC236}">
                <a16:creationId xmlns:a16="http://schemas.microsoft.com/office/drawing/2014/main" xmlns="" id="{21E25DF9-3249-5E9E-2650-8E69862B6C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1B2688E0-D0B5-C589-2ABE-3DFC08CC89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AABC8B-1952-4C2F-910C-67357C57D07F}" type="slidenum">
              <a:rPr lang="en-IN" smtClean="0"/>
              <a:t>‹#›</a:t>
            </a:fld>
            <a:endParaRPr lang="en-IN"/>
          </a:p>
        </p:txBody>
      </p:sp>
      <p:pic>
        <p:nvPicPr>
          <p:cNvPr id="8" name="Picture 7" descr="A white rectangular frame with a blue and pink border&#10;&#10;Description automatically generated">
            <a:extLst>
              <a:ext uri="{FF2B5EF4-FFF2-40B4-BE49-F238E27FC236}">
                <a16:creationId xmlns:a16="http://schemas.microsoft.com/office/drawing/2014/main" xmlns="" id="{10B50E92-7357-954C-B164-107C49DC439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descr="A black sign with white text&#10;&#10;Description automatically generated">
            <a:extLst>
              <a:ext uri="{FF2B5EF4-FFF2-40B4-BE49-F238E27FC236}">
                <a16:creationId xmlns:a16="http://schemas.microsoft.com/office/drawing/2014/main" xmlns="" id="{458CCFC5-52C8-BDB5-727F-884E3056F921}"/>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866373" y="218396"/>
            <a:ext cx="2099103" cy="365126"/>
          </a:xfrm>
          <a:prstGeom prst="rect">
            <a:avLst/>
          </a:prstGeom>
        </p:spPr>
      </p:pic>
    </p:spTree>
    <p:extLst>
      <p:ext uri="{BB962C8B-B14F-4D97-AF65-F5344CB8AC3E}">
        <p14:creationId xmlns:p14="http://schemas.microsoft.com/office/powerpoint/2010/main" val="2584849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DDF2C9D-EB17-81C1-0FB4-C824540F6B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9BBE7EA-AA96-1A5A-CEC9-06F2E22B8E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FE085EF-6EC4-18BC-0539-0FC7D16993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7EF4FE-D6FC-4B31-8112-0FC976A4B836}" type="datetimeFigureOut">
              <a:rPr lang="en-IN" smtClean="0"/>
              <a:t>14-01-2026</a:t>
            </a:fld>
            <a:endParaRPr lang="en-IN"/>
          </a:p>
        </p:txBody>
      </p:sp>
      <p:sp>
        <p:nvSpPr>
          <p:cNvPr id="5" name="Footer Placeholder 4">
            <a:extLst>
              <a:ext uri="{FF2B5EF4-FFF2-40B4-BE49-F238E27FC236}">
                <a16:creationId xmlns:a16="http://schemas.microsoft.com/office/drawing/2014/main" xmlns="" id="{79176568-96E0-0C3B-9EF8-D55059CEC0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30BC3919-FE24-CEB9-DB92-AA26CC9A45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7643DB-2C61-45DE-832E-5F96ABDFFD7E}" type="slidenum">
              <a:rPr lang="en-IN" smtClean="0"/>
              <a:t>‹#›</a:t>
            </a:fld>
            <a:endParaRPr lang="en-IN"/>
          </a:p>
        </p:txBody>
      </p:sp>
    </p:spTree>
    <p:extLst>
      <p:ext uri="{BB962C8B-B14F-4D97-AF65-F5344CB8AC3E}">
        <p14:creationId xmlns:p14="http://schemas.microsoft.com/office/powerpoint/2010/main" val="37509655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learn-c.org/" TargetMode="External"/><Relationship Id="rId2" Type="http://schemas.openxmlformats.org/officeDocument/2006/relationships/hyperlink" Target="https://onlinecourses.nptel.ac.in/noc22_cs40/preview"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2770520" y="1713782"/>
            <a:ext cx="7620000" cy="990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t>Introductory Lecture</a:t>
            </a:r>
            <a:r>
              <a:rPr lang="en-US" dirty="0" smtClean="0"/>
              <a:t/>
            </a:r>
            <a:br>
              <a:rPr lang="en-US" dirty="0" smtClean="0"/>
            </a:br>
            <a:r>
              <a:rPr lang="en-US" dirty="0" err="1" smtClean="0">
                <a:solidFill>
                  <a:srgbClr val="C00000"/>
                </a:solidFill>
              </a:rPr>
              <a:t>Lecture</a:t>
            </a:r>
            <a:r>
              <a:rPr lang="en-US" dirty="0" smtClean="0">
                <a:solidFill>
                  <a:srgbClr val="C00000"/>
                </a:solidFill>
              </a:rPr>
              <a:t> - Zero</a:t>
            </a:r>
          </a:p>
        </p:txBody>
      </p:sp>
      <p:sp>
        <p:nvSpPr>
          <p:cNvPr id="14" name="Subtitle 2"/>
          <p:cNvSpPr txBox="1">
            <a:spLocks/>
          </p:cNvSpPr>
          <p:nvPr/>
        </p:nvSpPr>
        <p:spPr>
          <a:xfrm>
            <a:off x="882502" y="3717851"/>
            <a:ext cx="10565329" cy="1828800"/>
          </a:xfrm>
          <a:prstGeom prst="rect">
            <a:avLst/>
          </a:prstGeom>
        </p:spPr>
        <p:txBody>
          <a:bodyPr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charset="0"/>
              <a:buNone/>
              <a:defRPr/>
            </a:pPr>
            <a:r>
              <a:rPr lang="en-US" b="1" dirty="0" smtClean="0"/>
              <a:t>Name of Faculty: Ms. Anjali Naudiyal</a:t>
            </a:r>
          </a:p>
          <a:p>
            <a:pPr algn="ctr">
              <a:defRPr/>
            </a:pPr>
            <a:r>
              <a:rPr lang="en-US" b="1" dirty="0" smtClean="0">
                <a:solidFill>
                  <a:srgbClr val="C00000"/>
                </a:solidFill>
              </a:rPr>
              <a:t>Location of Faculty</a:t>
            </a:r>
          </a:p>
          <a:p>
            <a:pPr algn="ctr">
              <a:defRPr/>
            </a:pPr>
            <a:r>
              <a:rPr lang="en-US" b="1" dirty="0" smtClean="0"/>
              <a:t>School Name: School of applied and Life Sciences</a:t>
            </a:r>
          </a:p>
          <a:p>
            <a:pPr algn="ctr">
              <a:defRPr/>
            </a:pPr>
            <a:endParaRPr lang="en-US" dirty="0" smtClean="0"/>
          </a:p>
          <a:p>
            <a:pPr algn="ctr">
              <a:defRPr/>
            </a:pPr>
            <a:endParaRPr lang="en-US" dirty="0"/>
          </a:p>
        </p:txBody>
      </p:sp>
      <p:sp>
        <p:nvSpPr>
          <p:cNvPr id="15" name="Rectangle 1"/>
          <p:cNvSpPr>
            <a:spLocks noChangeArrowheads="1"/>
          </p:cNvSpPr>
          <p:nvPr/>
        </p:nvSpPr>
        <p:spPr bwMode="auto">
          <a:xfrm>
            <a:off x="2770520" y="662874"/>
            <a:ext cx="76962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2400" b="1" dirty="0">
                <a:latin typeface="Arial" panose="020B0604020202020204" pitchFamily="34" charset="0"/>
              </a:rPr>
              <a:t>SCHOOL OF APPLIED AND LIFE SCIENCES</a:t>
            </a:r>
            <a:endParaRPr lang="en-IN" sz="2400" b="1" dirty="0">
              <a:latin typeface="Arial" panose="020B0604020202020204" pitchFamily="34" charset="0"/>
            </a:endParaRPr>
          </a:p>
          <a:p>
            <a:pPr algn="ctr" eaLnBrk="1" hangingPunct="1">
              <a:spcBef>
                <a:spcPct val="0"/>
              </a:spcBef>
              <a:buFontTx/>
              <a:buNone/>
            </a:pPr>
            <a:r>
              <a:rPr lang="en-US" sz="2400" b="1" dirty="0">
                <a:latin typeface="Arial" panose="020B0604020202020204" pitchFamily="34" charset="0"/>
              </a:rPr>
              <a:t>Lesson Plan (</a:t>
            </a:r>
            <a:r>
              <a:rPr lang="en-US" sz="2400" b="1" dirty="0" smtClean="0">
                <a:latin typeface="Arial" panose="020B0604020202020204" pitchFamily="34" charset="0"/>
              </a:rPr>
              <a:t>2025-26) </a:t>
            </a:r>
            <a:r>
              <a:rPr lang="en-US" sz="2400" b="1" dirty="0">
                <a:latin typeface="Arial" panose="020B0604020202020204" pitchFamily="34" charset="0"/>
              </a:rPr>
              <a:t>Even Semester</a:t>
            </a:r>
            <a:endParaRPr lang="en-IN" sz="2400" dirty="0">
              <a:latin typeface="Arial" panose="020B0604020202020204" pitchFamily="34" charset="0"/>
            </a:endParaRPr>
          </a:p>
        </p:txBody>
      </p:sp>
    </p:spTree>
    <p:extLst>
      <p:ext uri="{BB962C8B-B14F-4D97-AF65-F5344CB8AC3E}">
        <p14:creationId xmlns:p14="http://schemas.microsoft.com/office/powerpoint/2010/main" val="119147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488557" y="1546829"/>
            <a:ext cx="9420447" cy="4339650"/>
          </a:xfrm>
          <a:prstGeom prst="rect">
            <a:avLst/>
          </a:prstGeom>
        </p:spPr>
        <p:txBody>
          <a:bodyPr wrap="square">
            <a:spAutoFit/>
          </a:bodyPr>
          <a:lstStyle/>
          <a:p>
            <a:pPr marL="342900" lvl="0" indent="-342900" fontAlgn="base">
              <a:spcBef>
                <a:spcPct val="20000"/>
              </a:spcBef>
              <a:spcAft>
                <a:spcPct val="0"/>
              </a:spcAft>
              <a:buFont typeface="Arial" panose="020B0604020202020204" pitchFamily="34" charset="0"/>
              <a:buChar char="•"/>
            </a:pPr>
            <a:r>
              <a:rPr lang="en-US" sz="2000" b="1" dirty="0"/>
              <a:t>Course Name</a:t>
            </a:r>
            <a:r>
              <a:rPr lang="en-US" sz="2000" dirty="0"/>
              <a:t>		:         Programming In C</a:t>
            </a:r>
          </a:p>
          <a:p>
            <a:pPr marL="342900" lvl="0" indent="-342900" fontAlgn="base">
              <a:spcBef>
                <a:spcPct val="20000"/>
              </a:spcBef>
              <a:spcAft>
                <a:spcPct val="0"/>
              </a:spcAft>
              <a:buFont typeface="Arial" panose="020B0604020202020204" pitchFamily="34" charset="0"/>
              <a:buChar char="•"/>
            </a:pPr>
            <a:r>
              <a:rPr lang="en-US" sz="2000" b="1" dirty="0"/>
              <a:t>Course Code</a:t>
            </a:r>
            <a:r>
              <a:rPr lang="en-US" sz="2000" dirty="0"/>
              <a:t>		:         </a:t>
            </a:r>
            <a:r>
              <a:rPr lang="en-US" sz="2000" dirty="0" smtClean="0"/>
              <a:t>TBFS </a:t>
            </a:r>
            <a:r>
              <a:rPr lang="en-US" sz="2000" dirty="0"/>
              <a:t>– </a:t>
            </a:r>
            <a:r>
              <a:rPr lang="en-US" sz="2000" dirty="0" smtClean="0"/>
              <a:t>157</a:t>
            </a:r>
            <a:endParaRPr lang="en-IN" sz="2000" dirty="0"/>
          </a:p>
          <a:p>
            <a:pPr marL="342900" lvl="0" indent="-342900" fontAlgn="base">
              <a:spcBef>
                <a:spcPct val="20000"/>
              </a:spcBef>
              <a:spcAft>
                <a:spcPct val="0"/>
              </a:spcAft>
              <a:buFont typeface="Arial" panose="020B0604020202020204" pitchFamily="34" charset="0"/>
              <a:buChar char="•"/>
            </a:pPr>
            <a:r>
              <a:rPr lang="en-US" sz="2000" b="1" dirty="0"/>
              <a:t>L-T-P structure</a:t>
            </a:r>
            <a:r>
              <a:rPr lang="en-US" sz="2000" dirty="0"/>
              <a:t>	</a:t>
            </a:r>
            <a:r>
              <a:rPr lang="en-US" sz="2000" dirty="0" smtClean="0"/>
              <a:t>      	:         </a:t>
            </a:r>
            <a:r>
              <a:rPr lang="en-US" sz="2000" dirty="0"/>
              <a:t>3</a:t>
            </a:r>
            <a:r>
              <a:rPr lang="en-US" sz="2000" dirty="0" smtClean="0"/>
              <a:t>-0-0</a:t>
            </a:r>
            <a:endParaRPr lang="en-US" sz="2000" dirty="0"/>
          </a:p>
          <a:p>
            <a:pPr marL="342900" lvl="0" indent="-342900" fontAlgn="base">
              <a:spcBef>
                <a:spcPct val="20000"/>
              </a:spcBef>
              <a:spcAft>
                <a:spcPct val="0"/>
              </a:spcAft>
              <a:buFont typeface="Arial" panose="020B0604020202020204" pitchFamily="34" charset="0"/>
              <a:buChar char="•"/>
            </a:pPr>
            <a:r>
              <a:rPr lang="en-US" sz="2000" b="1" dirty="0"/>
              <a:t>Weekly Engagement</a:t>
            </a:r>
            <a:r>
              <a:rPr lang="en-US" sz="2000" dirty="0"/>
              <a:t>	:         </a:t>
            </a:r>
            <a:r>
              <a:rPr lang="en-US" sz="2000" dirty="0" smtClean="0"/>
              <a:t>3 Lecture</a:t>
            </a:r>
          </a:p>
          <a:p>
            <a:pPr lvl="0" fontAlgn="base">
              <a:spcBef>
                <a:spcPct val="20000"/>
              </a:spcBef>
              <a:spcAft>
                <a:spcPct val="0"/>
              </a:spcAft>
            </a:pPr>
            <a:endParaRPr lang="en-US" sz="2000" dirty="0"/>
          </a:p>
          <a:p>
            <a:pPr marL="342900" lvl="0" indent="-342900" fontAlgn="base">
              <a:spcBef>
                <a:spcPct val="20000"/>
              </a:spcBef>
              <a:spcAft>
                <a:spcPct val="0"/>
              </a:spcAft>
            </a:pPr>
            <a:r>
              <a:rPr lang="en-US" sz="2000" b="1" dirty="0"/>
              <a:t>Course objectives:</a:t>
            </a:r>
          </a:p>
          <a:p>
            <a:pPr marL="342900" lvl="0" indent="-342900" eaLnBrk="0" fontAlgn="base" hangingPunct="0">
              <a:spcBef>
                <a:spcPct val="20000"/>
              </a:spcBef>
              <a:spcAft>
                <a:spcPct val="0"/>
              </a:spcAft>
              <a:buFont typeface="Arial" panose="020B0604020202020204" pitchFamily="34" charset="0"/>
              <a:buChar char="•"/>
            </a:pPr>
            <a:r>
              <a:rPr lang="en-US" sz="2000" dirty="0"/>
              <a:t>To write algorithms, flowcharts and programs. </a:t>
            </a:r>
            <a:r>
              <a:rPr lang="en-IN" sz="2000" dirty="0"/>
              <a:t>. </a:t>
            </a:r>
            <a:endParaRPr lang="en-US" sz="2000" dirty="0"/>
          </a:p>
          <a:p>
            <a:pPr marL="342900" lvl="0" indent="-342900" eaLnBrk="0" fontAlgn="base" hangingPunct="0">
              <a:spcBef>
                <a:spcPct val="20000"/>
              </a:spcBef>
              <a:spcAft>
                <a:spcPct val="0"/>
              </a:spcAft>
              <a:buFont typeface="Arial" panose="020B0604020202020204" pitchFamily="34" charset="0"/>
              <a:buChar char="•"/>
            </a:pPr>
            <a:r>
              <a:rPr lang="en-US" sz="2000" dirty="0"/>
              <a:t>To implement different programming constructs and decomposition of problems into functions.</a:t>
            </a:r>
          </a:p>
          <a:p>
            <a:pPr marL="342900" lvl="0" indent="-342900" eaLnBrk="0" fontAlgn="base" hangingPunct="0">
              <a:spcBef>
                <a:spcPct val="20000"/>
              </a:spcBef>
              <a:spcAft>
                <a:spcPct val="0"/>
              </a:spcAft>
              <a:buFont typeface="Arial" panose="020B0604020202020204" pitchFamily="34" charset="0"/>
              <a:buChar char="•"/>
            </a:pPr>
            <a:r>
              <a:rPr lang="en-US" sz="2000" dirty="0"/>
              <a:t>To use and implement data structures like arrays and structures to obtain solutions. </a:t>
            </a:r>
          </a:p>
          <a:p>
            <a:pPr marL="342900" lvl="0" indent="-342900" eaLnBrk="0" fontAlgn="base" hangingPunct="0">
              <a:spcBef>
                <a:spcPct val="20000"/>
              </a:spcBef>
              <a:spcAft>
                <a:spcPct val="0"/>
              </a:spcAft>
              <a:buFont typeface="Arial" panose="020B0604020202020204" pitchFamily="34" charset="0"/>
              <a:buChar char="•"/>
            </a:pPr>
            <a:r>
              <a:rPr lang="en-US" sz="2000" dirty="0"/>
              <a:t>To define and use of pointers with simple applications. </a:t>
            </a:r>
          </a:p>
        </p:txBody>
      </p:sp>
      <p:sp>
        <p:nvSpPr>
          <p:cNvPr id="12" name="Title 1"/>
          <p:cNvSpPr txBox="1">
            <a:spLocks/>
          </p:cNvSpPr>
          <p:nvPr/>
        </p:nvSpPr>
        <p:spPr>
          <a:xfrm>
            <a:off x="3408437" y="454173"/>
            <a:ext cx="8229600" cy="6397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smtClean="0">
                <a:solidFill>
                  <a:srgbClr val="C00000"/>
                </a:solidFill>
              </a:rPr>
              <a:t>About the course</a:t>
            </a:r>
            <a:endParaRPr lang="en-US" sz="3600" b="1" dirty="0" smtClean="0">
              <a:solidFill>
                <a:srgbClr val="C00000"/>
              </a:solidFill>
            </a:endParaRPr>
          </a:p>
        </p:txBody>
      </p:sp>
    </p:spTree>
    <p:extLst>
      <p:ext uri="{BB962C8B-B14F-4D97-AF65-F5344CB8AC3E}">
        <p14:creationId xmlns:p14="http://schemas.microsoft.com/office/powerpoint/2010/main" val="1932520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88" y="228600"/>
            <a:ext cx="12316370" cy="1334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86194" y="1440711"/>
            <a:ext cx="11290005" cy="5016758"/>
          </a:xfrm>
          <a:prstGeom prst="rect">
            <a:avLst/>
          </a:prstGeom>
        </p:spPr>
        <p:txBody>
          <a:bodyPr wrap="square">
            <a:spAutoFit/>
          </a:bodyPr>
          <a:lstStyle/>
          <a:p>
            <a:pPr algn="just" eaLnBrk="1" hangingPunct="1">
              <a:lnSpc>
                <a:spcPct val="200000"/>
              </a:lnSpc>
              <a:defRPr/>
            </a:pPr>
            <a:r>
              <a:rPr lang="en-US" sz="3200" dirty="0">
                <a:latin typeface="+mn-lt"/>
                <a:cs typeface="Arial" charset="0"/>
              </a:rPr>
              <a:t>To be at the zenith in the field of Applied and Life Sciences by nurturing scholars through excellence in teaching, learning and research with concern for environment and society.</a:t>
            </a:r>
          </a:p>
        </p:txBody>
      </p:sp>
    </p:spTree>
    <p:extLst>
      <p:ext uri="{BB962C8B-B14F-4D97-AF65-F5344CB8AC3E}">
        <p14:creationId xmlns:p14="http://schemas.microsoft.com/office/powerpoint/2010/main" val="1322216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25303" y="76200"/>
            <a:ext cx="11055176" cy="7531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smtClean="0">
                <a:solidFill>
                  <a:srgbClr val="C00000"/>
                </a:solidFill>
              </a:rPr>
              <a:t>Mission</a:t>
            </a:r>
            <a:br>
              <a:rPr lang="en-US" sz="2400" b="1" dirty="0" smtClean="0">
                <a:solidFill>
                  <a:srgbClr val="C00000"/>
                </a:solidFill>
              </a:rPr>
            </a:br>
            <a:r>
              <a:rPr lang="en-US" sz="2400" b="1" dirty="0" smtClean="0">
                <a:solidFill>
                  <a:srgbClr val="C00000"/>
                </a:solidFill>
              </a:rPr>
              <a:t>(School of Applied and Life Sciences)</a:t>
            </a:r>
          </a:p>
        </p:txBody>
      </p:sp>
      <p:sp>
        <p:nvSpPr>
          <p:cNvPr id="7" name="Content Placeholder 2"/>
          <p:cNvSpPr txBox="1">
            <a:spLocks/>
          </p:cNvSpPr>
          <p:nvPr/>
        </p:nvSpPr>
        <p:spPr>
          <a:xfrm>
            <a:off x="180753" y="675168"/>
            <a:ext cx="11675090" cy="50664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3525" indent="-263525" algn="just">
              <a:lnSpc>
                <a:spcPct val="150000"/>
              </a:lnSpc>
              <a:tabLst>
                <a:tab pos="179388" algn="l"/>
              </a:tabLst>
            </a:pPr>
            <a:r>
              <a:rPr lang="en-US" sz="2000" dirty="0" smtClean="0"/>
              <a:t>To Provide an educational environment where students can realize their full potential to attain professional skills and knowledge to face the challenges of the future.</a:t>
            </a:r>
          </a:p>
          <a:p>
            <a:pPr marL="263525" indent="-263525" algn="just">
              <a:lnSpc>
                <a:spcPct val="150000"/>
              </a:lnSpc>
              <a:tabLst>
                <a:tab pos="179388" algn="l"/>
              </a:tabLst>
            </a:pPr>
            <a:r>
              <a:rPr lang="en-US" sz="2000" dirty="0" smtClean="0"/>
              <a:t> To develop competence in diversified areas to create excellence in academic, research and placement.</a:t>
            </a:r>
          </a:p>
          <a:p>
            <a:pPr marL="263525" indent="-263525" algn="just">
              <a:lnSpc>
                <a:spcPct val="150000"/>
              </a:lnSpc>
              <a:tabLst>
                <a:tab pos="179388" algn="l"/>
              </a:tabLst>
            </a:pPr>
            <a:r>
              <a:rPr lang="en-US" sz="2000" dirty="0" smtClean="0"/>
              <a:t> To establish networks collaborations with industries, academic and research organizations to develop curriculum as per need of Industry and society.</a:t>
            </a:r>
          </a:p>
          <a:p>
            <a:pPr marL="263525" indent="-263525" algn="just">
              <a:lnSpc>
                <a:spcPct val="150000"/>
              </a:lnSpc>
              <a:tabLst>
                <a:tab pos="179388" algn="l"/>
              </a:tabLst>
            </a:pPr>
            <a:r>
              <a:rPr lang="en-US" sz="2000" dirty="0" smtClean="0"/>
              <a:t> Harness the skills of the students and assist them to excel in their career by providing sound theoretical knowledge, hands on training, exposure to research and seminar.</a:t>
            </a:r>
          </a:p>
          <a:p>
            <a:pPr marL="263525" indent="-263525" algn="just">
              <a:lnSpc>
                <a:spcPct val="150000"/>
              </a:lnSpc>
              <a:tabLst>
                <a:tab pos="179388" algn="l"/>
              </a:tabLst>
            </a:pPr>
            <a:r>
              <a:rPr lang="en-US" sz="2000" dirty="0" smtClean="0"/>
              <a:t> To Inculcate moral and ethical values for professional and social life.</a:t>
            </a:r>
          </a:p>
        </p:txBody>
      </p:sp>
    </p:spTree>
    <p:extLst>
      <p:ext uri="{BB962C8B-B14F-4D97-AF65-F5344CB8AC3E}">
        <p14:creationId xmlns:p14="http://schemas.microsoft.com/office/powerpoint/2010/main" val="2771017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941144" y="457200"/>
            <a:ext cx="10522688"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smtClean="0">
                <a:solidFill>
                  <a:srgbClr val="FF0000"/>
                </a:solidFill>
              </a:rPr>
              <a:t>Graduation Attributes </a:t>
            </a:r>
          </a:p>
        </p:txBody>
      </p:sp>
      <p:pic>
        <p:nvPicPr>
          <p:cNvPr id="6" name="Picture 5" descr="grad-attributes-hexagons.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88066" y="1600200"/>
            <a:ext cx="10522688"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3859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827721" y="139605"/>
            <a:ext cx="10965100" cy="125676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smtClean="0">
                <a:solidFill>
                  <a:srgbClr val="C00000"/>
                </a:solidFill>
              </a:rPr>
              <a:t>PROGRAM OUTCOMES (POs)</a:t>
            </a:r>
            <a:endParaRPr lang="en-US" sz="3200" dirty="0" smtClean="0"/>
          </a:p>
        </p:txBody>
      </p:sp>
      <p:sp>
        <p:nvSpPr>
          <p:cNvPr id="7" name="Content Placeholder 2"/>
          <p:cNvSpPr txBox="1">
            <a:spLocks/>
          </p:cNvSpPr>
          <p:nvPr/>
        </p:nvSpPr>
        <p:spPr>
          <a:xfrm>
            <a:off x="152400" y="574158"/>
            <a:ext cx="11777330" cy="62838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smtClean="0"/>
              <a:t>PO-1 Disciplinary Knowledge</a:t>
            </a:r>
            <a:r>
              <a:rPr lang="en-US" sz="1400" smtClean="0"/>
              <a:t>: Gain the knowledge of chemical and life sciences and to apply this knowledge in related field.</a:t>
            </a:r>
          </a:p>
          <a:p>
            <a:r>
              <a:rPr lang="en-US" sz="1400" b="1" smtClean="0"/>
              <a:t>PO-2</a:t>
            </a:r>
            <a:r>
              <a:rPr lang="en-US" sz="1400" smtClean="0"/>
              <a:t> </a:t>
            </a:r>
            <a:r>
              <a:rPr lang="en-US" sz="1400" b="1" smtClean="0"/>
              <a:t>Critical Thinking</a:t>
            </a:r>
            <a:r>
              <a:rPr lang="en-US" sz="1400" smtClean="0"/>
              <a:t>: Identify, collect information, analyze data provided and substantiate conclusions for societal benefit.</a:t>
            </a:r>
          </a:p>
          <a:p>
            <a:r>
              <a:rPr lang="en-US" sz="1400" b="1" smtClean="0"/>
              <a:t>PO-3 Problem Solving</a:t>
            </a:r>
            <a:r>
              <a:rPr lang="en-US" sz="1400" smtClean="0"/>
              <a:t>: Identify, formulate and analyze complex problems reaching substantiated conclusions using principles of mathematics, natural sciences, and life sciences.</a:t>
            </a:r>
          </a:p>
          <a:p>
            <a:r>
              <a:rPr lang="en-US" sz="1400" b="1" smtClean="0"/>
              <a:t>PO-4</a:t>
            </a:r>
            <a:r>
              <a:rPr lang="en-US" sz="1400" smtClean="0"/>
              <a:t> </a:t>
            </a:r>
            <a:r>
              <a:rPr lang="en-US" sz="1400" b="1" smtClean="0"/>
              <a:t>Analytical Thinking</a:t>
            </a:r>
            <a:r>
              <a:rPr lang="en-US" sz="1400" smtClean="0"/>
              <a:t>: Ability to think critically, analyze data and make difficult decisions and solve complex problems. .</a:t>
            </a:r>
          </a:p>
          <a:p>
            <a:r>
              <a:rPr lang="en-US" sz="1400" b="1" smtClean="0"/>
              <a:t>PO-5</a:t>
            </a:r>
            <a:r>
              <a:rPr lang="en-US" sz="1400" smtClean="0"/>
              <a:t> </a:t>
            </a:r>
            <a:r>
              <a:rPr lang="en-US" sz="1400" b="1" smtClean="0"/>
              <a:t>Individual and team work</a:t>
            </a:r>
            <a:r>
              <a:rPr lang="en-US" sz="1400" smtClean="0"/>
              <a:t>: Function effectively as an individual, and as a member or leader in diverse teams, and in multidisciplinary settings..</a:t>
            </a:r>
          </a:p>
          <a:p>
            <a:r>
              <a:rPr lang="en-US" sz="1400" b="1" smtClean="0"/>
              <a:t>PO-6</a:t>
            </a:r>
            <a:r>
              <a:rPr lang="en-US" sz="1400" smtClean="0"/>
              <a:t> </a:t>
            </a:r>
            <a:r>
              <a:rPr lang="en-US" sz="1400" b="1" smtClean="0"/>
              <a:t>Communication skills: </a:t>
            </a:r>
            <a:r>
              <a:rPr lang="en-US" sz="1400" smtClean="0"/>
              <a:t>Communicate effectively regarding scientific developments with society at large. Be able to comprehend and write effective reports and design documentation, make effective presentations, and give and receive clear instructions. .</a:t>
            </a:r>
          </a:p>
          <a:p>
            <a:r>
              <a:rPr lang="en-US" sz="1400" b="1" smtClean="0"/>
              <a:t>PO-7</a:t>
            </a:r>
            <a:r>
              <a:rPr lang="en-US" sz="1400" smtClean="0"/>
              <a:t> </a:t>
            </a:r>
            <a:r>
              <a:rPr lang="en-US" sz="1400" b="1" smtClean="0"/>
              <a:t>Moral &amp; Ethical Values:</a:t>
            </a:r>
            <a:r>
              <a:rPr lang="en-US" sz="1400" smtClean="0"/>
              <a:t> Apply ethical principles and commit to professional ethics and responsibilities. Apply reasoning informed by the contextual knowledge to assess societal, health, safety, legal and cultural issues.</a:t>
            </a:r>
          </a:p>
          <a:p>
            <a:r>
              <a:rPr lang="en-US" sz="1400" b="1" smtClean="0"/>
              <a:t>PO-8</a:t>
            </a:r>
            <a:r>
              <a:rPr lang="en-US" sz="1400" smtClean="0"/>
              <a:t> </a:t>
            </a:r>
            <a:r>
              <a:rPr lang="en-US" sz="1400" b="1" smtClean="0"/>
              <a:t>Information and digital skills with Modern tool usage:</a:t>
            </a:r>
            <a:r>
              <a:rPr lang="en-US" sz="1400" smtClean="0"/>
              <a:t> Create, select, and apply appropriate techniques, resources, and use modern scientific tools for analysis of data.</a:t>
            </a:r>
          </a:p>
          <a:p>
            <a:r>
              <a:rPr lang="en-US" sz="1400" b="1" smtClean="0"/>
              <a:t>PO-9</a:t>
            </a:r>
            <a:r>
              <a:rPr lang="en-US" sz="1400" smtClean="0"/>
              <a:t> </a:t>
            </a:r>
            <a:r>
              <a:rPr lang="en-US" sz="1400" b="1" smtClean="0"/>
              <a:t>Experimental Learning:</a:t>
            </a:r>
            <a:r>
              <a:rPr lang="en-US" sz="1400" smtClean="0"/>
              <a:t> Learning through lab work in a smooth and efficient manner.</a:t>
            </a:r>
          </a:p>
          <a:p>
            <a:r>
              <a:rPr lang="en-US" sz="1400" b="1" smtClean="0"/>
              <a:t>PO-10</a:t>
            </a:r>
            <a:r>
              <a:rPr lang="en-US" sz="1400" smtClean="0"/>
              <a:t> </a:t>
            </a:r>
            <a:r>
              <a:rPr lang="en-US" sz="1400" b="1" smtClean="0"/>
              <a:t>Environment and sustainability: </a:t>
            </a:r>
            <a:r>
              <a:rPr lang="en-US" sz="1400" smtClean="0"/>
              <a:t>Understand the impact of the scientific solutions in societal and environmental contexts, and demonstrate the knowledge of, and need for sustainable development.</a:t>
            </a:r>
          </a:p>
          <a:p>
            <a:r>
              <a:rPr lang="en-US" sz="1400" b="1" smtClean="0"/>
              <a:t>PO-11</a:t>
            </a:r>
            <a:r>
              <a:rPr lang="en-US" sz="1400" smtClean="0"/>
              <a:t> </a:t>
            </a:r>
            <a:r>
              <a:rPr lang="en-US" sz="1400" b="1" smtClean="0"/>
              <a:t>Employability:</a:t>
            </a:r>
            <a:r>
              <a:rPr lang="en-US" sz="1400" smtClean="0"/>
              <a:t> Acquire a set of skills and key personal attributes which are highly valued by employers and essential for effective performance in the workplace.</a:t>
            </a:r>
          </a:p>
          <a:p>
            <a:r>
              <a:rPr lang="en-US" sz="1400" b="1" smtClean="0"/>
              <a:t>PO-12</a:t>
            </a:r>
            <a:r>
              <a:rPr lang="en-US" sz="1400" smtClean="0"/>
              <a:t> </a:t>
            </a:r>
            <a:r>
              <a:rPr lang="en-US" sz="1400" b="1" smtClean="0"/>
              <a:t>Life long learning: </a:t>
            </a:r>
            <a:r>
              <a:rPr lang="en-US" sz="1400" smtClean="0"/>
              <a:t>Recognize the need for, and have the preparation and ability to engage in independent and life-long learning in the broadest context of scientific advancement.</a:t>
            </a:r>
          </a:p>
          <a:p>
            <a:pPr algn="just">
              <a:buFont typeface="Arial" panose="020B0604020202020204" pitchFamily="34" charset="0"/>
              <a:buNone/>
            </a:pPr>
            <a:endParaRPr lang="en-US" sz="1400" dirty="0" smtClean="0"/>
          </a:p>
        </p:txBody>
      </p:sp>
    </p:spTree>
    <p:extLst>
      <p:ext uri="{BB962C8B-B14F-4D97-AF65-F5344CB8AC3E}">
        <p14:creationId xmlns:p14="http://schemas.microsoft.com/office/powerpoint/2010/main" val="105836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338943" y="397060"/>
            <a:ext cx="8389848"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smtClean="0">
                <a:solidFill>
                  <a:srgbClr val="C00000"/>
                </a:solidFill>
              </a:rPr>
              <a:t>PROGRAM EDUCATIONAL OBJECTIVES (PEOs)</a:t>
            </a:r>
            <a:endParaRPr lang="en-US" sz="2800" dirty="0" smtClean="0"/>
          </a:p>
        </p:txBody>
      </p:sp>
      <p:sp>
        <p:nvSpPr>
          <p:cNvPr id="9" name="Content Placeholder 2"/>
          <p:cNvSpPr txBox="1">
            <a:spLocks/>
          </p:cNvSpPr>
          <p:nvPr/>
        </p:nvSpPr>
        <p:spPr>
          <a:xfrm>
            <a:off x="457200" y="968560"/>
            <a:ext cx="11079126" cy="47545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60000"/>
              </a:lnSpc>
              <a:buFont typeface="Arial" panose="020B0604020202020204" pitchFamily="34" charset="0"/>
              <a:buNone/>
            </a:pPr>
            <a:r>
              <a:rPr lang="en-US" sz="2000" b="1" dirty="0" smtClean="0"/>
              <a:t>PEO-1  </a:t>
            </a:r>
            <a:r>
              <a:rPr lang="en-US" sz="2000" dirty="0" smtClean="0"/>
              <a:t>To demonstrate proficiency in statistical analysis of data.</a:t>
            </a:r>
          </a:p>
          <a:p>
            <a:pPr algn="just">
              <a:lnSpc>
                <a:spcPct val="160000"/>
              </a:lnSpc>
              <a:buFont typeface="Arial" panose="020B0604020202020204" pitchFamily="34" charset="0"/>
              <a:buNone/>
            </a:pPr>
            <a:r>
              <a:rPr lang="en-US" sz="2000" b="1" dirty="0" smtClean="0"/>
              <a:t>PEO-2  </a:t>
            </a:r>
            <a:r>
              <a:rPr lang="en-US" sz="2000" dirty="0" smtClean="0"/>
              <a:t>To execute statistical analyses using professional statistical software.</a:t>
            </a:r>
          </a:p>
          <a:p>
            <a:pPr algn="just">
              <a:lnSpc>
                <a:spcPct val="160000"/>
              </a:lnSpc>
              <a:buFont typeface="Arial" panose="020B0604020202020204" pitchFamily="34" charset="0"/>
              <a:buNone/>
            </a:pPr>
            <a:r>
              <a:rPr lang="en-US" sz="2000" b="1" dirty="0" smtClean="0"/>
              <a:t>PEO-3 </a:t>
            </a:r>
            <a:r>
              <a:rPr lang="en-US" sz="2000" dirty="0" smtClean="0"/>
              <a:t>To demonstrate skill in data management and develop the ability to build and assess data-based models.</a:t>
            </a:r>
          </a:p>
          <a:p>
            <a:pPr algn="just">
              <a:lnSpc>
                <a:spcPct val="160000"/>
              </a:lnSpc>
              <a:buFont typeface="Arial" panose="020B0604020202020204" pitchFamily="34" charset="0"/>
              <a:buNone/>
            </a:pPr>
            <a:r>
              <a:rPr lang="en-US" sz="2000" b="1" dirty="0" smtClean="0"/>
              <a:t>PEO-4 </a:t>
            </a:r>
            <a:r>
              <a:rPr lang="en-US" sz="2000" dirty="0" smtClean="0"/>
              <a:t>To apply data science concepts and methods to solve real-world problems and effectively communicate their solutions.</a:t>
            </a:r>
          </a:p>
          <a:p>
            <a:pPr algn="just">
              <a:lnSpc>
                <a:spcPct val="160000"/>
              </a:lnSpc>
              <a:buFont typeface="Arial" panose="020B0604020202020204" pitchFamily="34" charset="0"/>
              <a:buNone/>
            </a:pPr>
            <a:r>
              <a:rPr lang="en-US" sz="2000" b="1" dirty="0" smtClean="0"/>
              <a:t>PEO-5 </a:t>
            </a:r>
            <a:r>
              <a:rPr lang="en-US" sz="2000" dirty="0" smtClean="0"/>
              <a:t>Graduates will adhere to professional ethics, values, standards, and social responsibilities to contribute towards a better and more sustainable future.</a:t>
            </a:r>
          </a:p>
          <a:p>
            <a:pPr algn="just">
              <a:lnSpc>
                <a:spcPct val="150000"/>
              </a:lnSpc>
              <a:buFont typeface="Arial" panose="020B0604020202020204" pitchFamily="34" charset="0"/>
              <a:buNone/>
            </a:pPr>
            <a:endParaRPr lang="en-US" sz="2000" dirty="0" smtClean="0"/>
          </a:p>
        </p:txBody>
      </p:sp>
    </p:spTree>
    <p:extLst>
      <p:ext uri="{BB962C8B-B14F-4D97-AF65-F5344CB8AC3E}">
        <p14:creationId xmlns:p14="http://schemas.microsoft.com/office/powerpoint/2010/main" val="2316948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2842437" y="381000"/>
            <a:ext cx="8229600" cy="1143000"/>
          </a:xfrm>
        </p:spPr>
        <p:txBody>
          <a:bodyPr/>
          <a:lstStyle/>
          <a:p>
            <a:pPr eaLnBrk="1" hangingPunct="1"/>
            <a:r>
              <a:rPr lang="en-US" sz="2800" b="1" dirty="0">
                <a:solidFill>
                  <a:srgbClr val="C00000"/>
                </a:solidFill>
              </a:rPr>
              <a:t>PROGRAM SPECIFIC OUTCOMES(PSOs)</a:t>
            </a:r>
            <a:endParaRPr lang="en-US" sz="2800" dirty="0"/>
          </a:p>
        </p:txBody>
      </p:sp>
      <p:sp>
        <p:nvSpPr>
          <p:cNvPr id="11267" name="Content Placeholder 2"/>
          <p:cNvSpPr>
            <a:spLocks noGrp="1"/>
          </p:cNvSpPr>
          <p:nvPr>
            <p:ph idx="1"/>
          </p:nvPr>
        </p:nvSpPr>
        <p:spPr>
          <a:xfrm>
            <a:off x="659219" y="1371601"/>
            <a:ext cx="9780181" cy="4754563"/>
          </a:xfrm>
        </p:spPr>
        <p:txBody>
          <a:bodyPr/>
          <a:lstStyle/>
          <a:p>
            <a:pPr algn="just">
              <a:lnSpc>
                <a:spcPct val="160000"/>
              </a:lnSpc>
              <a:buFont typeface="Arial" panose="020B0604020202020204" pitchFamily="34" charset="0"/>
              <a:buNone/>
            </a:pPr>
            <a:r>
              <a:rPr lang="en-US" sz="2000" b="1" dirty="0"/>
              <a:t>PSO-1 </a:t>
            </a:r>
            <a:r>
              <a:rPr lang="en-US" sz="2000" dirty="0"/>
              <a:t>Graduates will become skilled data scientists in industry, academia, or government.</a:t>
            </a:r>
          </a:p>
          <a:p>
            <a:pPr algn="just">
              <a:lnSpc>
                <a:spcPct val="160000"/>
              </a:lnSpc>
              <a:buFont typeface="Arial" panose="020B0604020202020204" pitchFamily="34" charset="0"/>
              <a:buNone/>
            </a:pPr>
            <a:r>
              <a:rPr lang="en-US" sz="2000" b="1" dirty="0"/>
              <a:t>PSO-2 </a:t>
            </a:r>
            <a:r>
              <a:rPr lang="en-US" sz="2000" dirty="0"/>
              <a:t>They will be able to utilize advanced software tools for data storage, analysis, and visualization.</a:t>
            </a:r>
          </a:p>
          <a:p>
            <a:pPr algn="just">
              <a:lnSpc>
                <a:spcPct val="160000"/>
              </a:lnSpc>
              <a:buFont typeface="Arial" panose="020B0604020202020204" pitchFamily="34" charset="0"/>
              <a:buNone/>
            </a:pPr>
            <a:r>
              <a:rPr lang="en-US" sz="2000" b="1" dirty="0"/>
              <a:t>PSO-3 </a:t>
            </a:r>
            <a:r>
              <a:rPr lang="en-US" sz="2000" dirty="0"/>
              <a:t>Graduates will independently carry out research and investigations to solve practical problems.</a:t>
            </a:r>
          </a:p>
          <a:p>
            <a:pPr algn="just">
              <a:lnSpc>
                <a:spcPct val="160000"/>
              </a:lnSpc>
              <a:buFont typeface="Arial" panose="020B0604020202020204" pitchFamily="34" charset="0"/>
              <a:buNone/>
            </a:pPr>
            <a:r>
              <a:rPr lang="en-US" sz="2000" b="1" dirty="0"/>
              <a:t>PSO-4 </a:t>
            </a:r>
            <a:r>
              <a:rPr lang="en-US" sz="2000" dirty="0"/>
              <a:t>They will develop a problem-solving approach and effectively present and communicate their output.</a:t>
            </a:r>
          </a:p>
          <a:p>
            <a:pPr algn="just" eaLnBrk="1" hangingPunct="1">
              <a:lnSpc>
                <a:spcPct val="150000"/>
              </a:lnSpc>
              <a:buFont typeface="Arial" panose="020B0604020202020204" pitchFamily="34" charset="0"/>
              <a:buNone/>
            </a:pPr>
            <a:endParaRPr lang="en-US" sz="2000" dirty="0"/>
          </a:p>
        </p:txBody>
      </p:sp>
    </p:spTree>
    <p:extLst>
      <p:ext uri="{BB962C8B-B14F-4D97-AF65-F5344CB8AC3E}">
        <p14:creationId xmlns:p14="http://schemas.microsoft.com/office/powerpoint/2010/main" val="306521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576816" y="1447800"/>
            <a:ext cx="11017102"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sz="2000" dirty="0" smtClean="0"/>
              <a:t>This paper concludes the various important mathematical concept widely applied in computer.</a:t>
            </a:r>
          </a:p>
          <a:p>
            <a:pPr algn="just">
              <a:lnSpc>
                <a:spcPct val="150000"/>
              </a:lnSpc>
            </a:pPr>
            <a:r>
              <a:rPr lang="en-US" sz="2000" dirty="0" smtClean="0"/>
              <a:t>Various concepts apply code reusability with functions and pointers.</a:t>
            </a:r>
          </a:p>
          <a:p>
            <a:pPr algn="just">
              <a:lnSpc>
                <a:spcPct val="150000"/>
              </a:lnSpc>
            </a:pPr>
            <a:r>
              <a:rPr lang="en-US" sz="2000" dirty="0" smtClean="0"/>
              <a:t>This paper concludes different functions used in data handling and analysis.</a:t>
            </a:r>
          </a:p>
          <a:p>
            <a:pPr algn="just">
              <a:lnSpc>
                <a:spcPct val="150000"/>
              </a:lnSpc>
            </a:pPr>
            <a:r>
              <a:rPr lang="en-US" sz="2000" dirty="0" smtClean="0"/>
              <a:t>Distinct approaches are used to understand the basics of file handling mechanisms.</a:t>
            </a:r>
          </a:p>
          <a:p>
            <a:pPr algn="just">
              <a:lnSpc>
                <a:spcPct val="150000"/>
              </a:lnSpc>
            </a:pPr>
            <a:r>
              <a:rPr lang="en-US" sz="2000" dirty="0" smtClean="0"/>
              <a:t>Various algorithmic approaches are applied to solve the problems.</a:t>
            </a:r>
          </a:p>
        </p:txBody>
      </p:sp>
      <p:sp>
        <p:nvSpPr>
          <p:cNvPr id="7" name="Title 1"/>
          <p:cNvSpPr txBox="1">
            <a:spLocks/>
          </p:cNvSpPr>
          <p:nvPr/>
        </p:nvSpPr>
        <p:spPr>
          <a:xfrm>
            <a:off x="3244702" y="304800"/>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solidFill>
                  <a:srgbClr val="C00000"/>
                </a:solidFill>
              </a:rPr>
              <a:t>About the course</a:t>
            </a:r>
            <a:br>
              <a:rPr lang="en-US" b="1" dirty="0" smtClean="0">
                <a:solidFill>
                  <a:srgbClr val="C00000"/>
                </a:solidFill>
              </a:rPr>
            </a:br>
            <a:r>
              <a:rPr lang="en-US" b="1" dirty="0" smtClean="0">
                <a:solidFill>
                  <a:srgbClr val="C00000"/>
                </a:solidFill>
              </a:rPr>
              <a:t>    </a:t>
            </a:r>
            <a:r>
              <a:rPr lang="en-US" sz="2200" b="1" dirty="0" smtClean="0"/>
              <a:t>(</a:t>
            </a:r>
            <a:r>
              <a:rPr lang="en-US" sz="2400" b="1" dirty="0" smtClean="0"/>
              <a:t>Programming In C</a:t>
            </a:r>
            <a:r>
              <a:rPr lang="en-US" sz="2200" b="1" dirty="0" smtClean="0"/>
              <a:t>)</a:t>
            </a:r>
            <a:endParaRPr lang="en-US" b="1" dirty="0" smtClean="0"/>
          </a:p>
        </p:txBody>
      </p:sp>
    </p:spTree>
    <p:extLst>
      <p:ext uri="{BB962C8B-B14F-4D97-AF65-F5344CB8AC3E}">
        <p14:creationId xmlns:p14="http://schemas.microsoft.com/office/powerpoint/2010/main" val="2422861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991476" y="138382"/>
            <a:ext cx="8230313" cy="1243692"/>
          </a:xfrm>
          <a:prstGeom prst="rect">
            <a:avLst/>
          </a:prstGeom>
        </p:spPr>
      </p:pic>
      <p:sp>
        <p:nvSpPr>
          <p:cNvPr id="8" name="Content Placeholder 2"/>
          <p:cNvSpPr txBox="1">
            <a:spLocks/>
          </p:cNvSpPr>
          <p:nvPr/>
        </p:nvSpPr>
        <p:spPr bwMode="auto">
          <a:xfrm>
            <a:off x="698457" y="1635605"/>
            <a:ext cx="10838121" cy="429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pPr>
            <a:r>
              <a:rPr lang="en-US" sz="2000" b="1" dirty="0" smtClean="0">
                <a:cs typeface="Times New Roman" panose="02020603050405020304" pitchFamily="18" charset="0"/>
              </a:rPr>
              <a:t>TBFS-157 CO1: </a:t>
            </a:r>
            <a:r>
              <a:rPr lang="en-US" sz="2000" dirty="0"/>
              <a:t>Describe the fundamentals of C programming </a:t>
            </a:r>
            <a:r>
              <a:rPr lang="en-US" sz="2000" dirty="0" smtClean="0"/>
              <a:t>Language</a:t>
            </a:r>
            <a:r>
              <a:rPr lang="en-US" sz="2000" dirty="0" smtClean="0">
                <a:cs typeface="Times New Roman" panose="02020603050405020304" pitchFamily="18" charset="0"/>
              </a:rPr>
              <a:t>.</a:t>
            </a:r>
          </a:p>
          <a:p>
            <a:pPr algn="just">
              <a:lnSpc>
                <a:spcPct val="150000"/>
              </a:lnSpc>
            </a:pPr>
            <a:r>
              <a:rPr lang="en-US" sz="2000" b="1" dirty="0" smtClean="0">
                <a:cs typeface="Times New Roman" panose="02020603050405020304" pitchFamily="18" charset="0"/>
              </a:rPr>
              <a:t>TBFS-157 CO2: </a:t>
            </a:r>
            <a:r>
              <a:rPr lang="en-US" sz="2000" dirty="0"/>
              <a:t>Apply appropriate Control structures to solve </a:t>
            </a:r>
            <a:r>
              <a:rPr lang="en-US" sz="2000" dirty="0" smtClean="0"/>
              <a:t>problems</a:t>
            </a:r>
            <a:r>
              <a:rPr lang="en-US" sz="2000" dirty="0" smtClean="0">
                <a:cs typeface="Times New Roman" panose="02020603050405020304" pitchFamily="18" charset="0"/>
              </a:rPr>
              <a:t>.</a:t>
            </a:r>
          </a:p>
          <a:p>
            <a:pPr algn="just">
              <a:lnSpc>
                <a:spcPct val="150000"/>
              </a:lnSpc>
            </a:pPr>
            <a:r>
              <a:rPr lang="en-US" sz="2000" b="1" dirty="0" smtClean="0">
                <a:cs typeface="Times New Roman" panose="02020603050405020304" pitchFamily="18" charset="0"/>
              </a:rPr>
              <a:t>TBFS-157 CO3: </a:t>
            </a:r>
            <a:r>
              <a:rPr lang="en-US" sz="2000" dirty="0" smtClean="0">
                <a:cs typeface="Times New Roman" panose="02020603050405020304" pitchFamily="18" charset="0"/>
              </a:rPr>
              <a:t>W</a:t>
            </a:r>
            <a:r>
              <a:rPr lang="en-US" sz="2000" dirty="0" smtClean="0"/>
              <a:t>rite </a:t>
            </a:r>
            <a:r>
              <a:rPr lang="en-US" sz="2000" dirty="0"/>
              <a:t>User defined functions and apply concept of recursion to solve problems.</a:t>
            </a:r>
            <a:endParaRPr lang="en-US" sz="2000" dirty="0" smtClean="0">
              <a:cs typeface="Times New Roman" panose="02020603050405020304" pitchFamily="18" charset="0"/>
            </a:endParaRPr>
          </a:p>
          <a:p>
            <a:pPr algn="just">
              <a:lnSpc>
                <a:spcPct val="150000"/>
              </a:lnSpc>
            </a:pPr>
            <a:r>
              <a:rPr lang="en-US" sz="2000" b="1" dirty="0" smtClean="0">
                <a:cs typeface="Times New Roman" panose="02020603050405020304" pitchFamily="18" charset="0"/>
              </a:rPr>
              <a:t>TBFS-157 CO4: </a:t>
            </a:r>
            <a:r>
              <a:rPr lang="en-US" sz="2000" dirty="0"/>
              <a:t>Describe the concept of Pointers and Structures.</a:t>
            </a:r>
            <a:endParaRPr lang="en-US" sz="2000" dirty="0" smtClean="0">
              <a:cs typeface="Times New Roman" panose="02020603050405020304" pitchFamily="18" charset="0"/>
            </a:endParaRPr>
          </a:p>
        </p:txBody>
      </p:sp>
    </p:spTree>
    <p:extLst>
      <p:ext uri="{BB962C8B-B14F-4D97-AF65-F5344CB8AC3E}">
        <p14:creationId xmlns:p14="http://schemas.microsoft.com/office/powerpoint/2010/main" val="4193705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6888" y="277111"/>
            <a:ext cx="7315200" cy="954088"/>
          </a:xfrm>
          <a:prstGeom prst="rect">
            <a:avLst/>
          </a:prstGeom>
          <a:noFill/>
        </p:spPr>
        <p:txBody>
          <a:bodyPr>
            <a:spAutoFit/>
          </a:bodyPr>
          <a:lstStyle/>
          <a:p>
            <a:pPr algn="ctr" eaLnBrk="1" hangingPunct="1">
              <a:defRPr/>
            </a:pPr>
            <a:r>
              <a:rPr lang="en-IN" sz="2800" b="1" dirty="0">
                <a:solidFill>
                  <a:srgbClr val="C00000"/>
                </a:solidFill>
                <a:latin typeface="+mj-lt"/>
                <a:ea typeface="+mj-ea"/>
                <a:cs typeface="+mj-cs"/>
              </a:rPr>
              <a:t>Syllabus of Programming In C</a:t>
            </a:r>
          </a:p>
          <a:p>
            <a:pPr algn="ctr" eaLnBrk="1" hangingPunct="1">
              <a:defRPr/>
            </a:pPr>
            <a:endParaRPr lang="en-IN" sz="2800" b="1" dirty="0">
              <a:solidFill>
                <a:srgbClr val="C00000"/>
              </a:solidFill>
              <a:latin typeface="+mj-lt"/>
              <a:ea typeface="+mj-ea"/>
              <a:cs typeface="+mj-cs"/>
            </a:endParaRPr>
          </a:p>
        </p:txBody>
      </p:sp>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086" y="805542"/>
            <a:ext cx="10765971" cy="5812971"/>
          </a:xfrm>
          <a:prstGeom prst="rect">
            <a:avLst/>
          </a:prstGeom>
        </p:spPr>
      </p:pic>
    </p:spTree>
    <p:extLst>
      <p:ext uri="{BB962C8B-B14F-4D97-AF65-F5344CB8AC3E}">
        <p14:creationId xmlns:p14="http://schemas.microsoft.com/office/powerpoint/2010/main" val="1641002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32692" t="62700" r="32372" b="14530"/>
          <a:stretch/>
        </p:blipFill>
        <p:spPr bwMode="auto">
          <a:xfrm>
            <a:off x="627322" y="740229"/>
            <a:ext cx="11227982" cy="563930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5671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rotWithShape="1">
          <a:blip r:embed="rId2"/>
          <a:srcRect l="32692" t="38367" r="32906" b="52660"/>
          <a:stretch/>
        </p:blipFill>
        <p:spPr bwMode="auto">
          <a:xfrm>
            <a:off x="1041991" y="637953"/>
            <a:ext cx="10419907" cy="1469627"/>
          </a:xfrm>
          <a:prstGeom prst="rect">
            <a:avLst/>
          </a:prstGeom>
          <a:ln>
            <a:noFill/>
          </a:ln>
          <a:extLst>
            <a:ext uri="{53640926-AAD7-44D8-BBD7-CCE9431645EC}">
              <a14:shadowObscured xmlns:a14="http://schemas.microsoft.com/office/drawing/2010/main"/>
            </a:ext>
          </a:extLst>
        </p:spPr>
      </p:pic>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657" y="2220686"/>
            <a:ext cx="10602685" cy="3777343"/>
          </a:xfrm>
          <a:prstGeom prst="rect">
            <a:avLst/>
          </a:prstGeom>
        </p:spPr>
      </p:pic>
    </p:spTree>
    <p:extLst>
      <p:ext uri="{BB962C8B-B14F-4D97-AF65-F5344CB8AC3E}">
        <p14:creationId xmlns:p14="http://schemas.microsoft.com/office/powerpoint/2010/main" val="181775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158409" y="423494"/>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smtClean="0">
                <a:solidFill>
                  <a:srgbClr val="C00000"/>
                </a:solidFill>
              </a:rPr>
              <a:t>Assessment Process</a:t>
            </a:r>
            <a:br>
              <a:rPr lang="en-US" sz="3200" b="1" dirty="0" smtClean="0">
                <a:solidFill>
                  <a:srgbClr val="C00000"/>
                </a:solidFill>
              </a:rPr>
            </a:br>
            <a:r>
              <a:rPr lang="en-US" sz="2400" b="1" dirty="0" smtClean="0">
                <a:solidFill>
                  <a:srgbClr val="C00000"/>
                </a:solidFill>
              </a:rPr>
              <a:t>(Theory and Practical)</a:t>
            </a:r>
            <a:endParaRPr lang="en-US" sz="3200" b="1" dirty="0" smtClean="0">
              <a:solidFill>
                <a:srgbClr val="C00000"/>
              </a:solidFill>
            </a:endParaRPr>
          </a:p>
        </p:txBody>
      </p:sp>
      <p:sp>
        <p:nvSpPr>
          <p:cNvPr id="3" name="Content Placeholder 2"/>
          <p:cNvSpPr txBox="1">
            <a:spLocks/>
          </p:cNvSpPr>
          <p:nvPr/>
        </p:nvSpPr>
        <p:spPr>
          <a:xfrm>
            <a:off x="2511056" y="1679944"/>
            <a:ext cx="822960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smtClean="0"/>
              <a:t>Internal </a:t>
            </a:r>
            <a:r>
              <a:rPr lang="en-US" dirty="0" smtClean="0"/>
              <a:t>			: 20 Marks</a:t>
            </a:r>
          </a:p>
          <a:p>
            <a:r>
              <a:rPr lang="en-US" b="1" dirty="0" smtClean="0"/>
              <a:t>Teacher Assessment</a:t>
            </a:r>
            <a:r>
              <a:rPr lang="en-US" dirty="0" smtClean="0"/>
              <a:t>: 20 Marks</a:t>
            </a:r>
          </a:p>
          <a:p>
            <a:r>
              <a:rPr lang="en-US" b="1" dirty="0" smtClean="0"/>
              <a:t>External</a:t>
            </a:r>
            <a:r>
              <a:rPr lang="en-US" dirty="0" smtClean="0"/>
              <a:t>			: 60 </a:t>
            </a:r>
            <a:r>
              <a:rPr lang="en-US" dirty="0" smtClean="0"/>
              <a:t>Marks</a:t>
            </a:r>
          </a:p>
          <a:p>
            <a:r>
              <a:rPr lang="en-US" b="1" dirty="0"/>
              <a:t>Internal Practical	</a:t>
            </a:r>
            <a:r>
              <a:rPr lang="en-US" dirty="0" smtClean="0"/>
              <a:t>: </a:t>
            </a:r>
            <a:r>
              <a:rPr lang="en-US" dirty="0"/>
              <a:t>25 Marks</a:t>
            </a:r>
          </a:p>
          <a:p>
            <a:r>
              <a:rPr lang="en-US" b="1" dirty="0"/>
              <a:t>External Practical	</a:t>
            </a:r>
            <a:r>
              <a:rPr lang="en-US" dirty="0" smtClean="0"/>
              <a:t>: </a:t>
            </a:r>
            <a:r>
              <a:rPr lang="en-US" dirty="0"/>
              <a:t>25 Marks</a:t>
            </a:r>
          </a:p>
          <a:p>
            <a:pPr marL="0" indent="0">
              <a:buNone/>
            </a:pPr>
            <a:endParaRPr lang="en-US" dirty="0" smtClean="0"/>
          </a:p>
          <a:p>
            <a:endParaRPr lang="en-US" dirty="0" smtClean="0"/>
          </a:p>
        </p:txBody>
      </p:sp>
    </p:spTree>
    <p:extLst>
      <p:ext uri="{BB962C8B-B14F-4D97-AF65-F5344CB8AC3E}">
        <p14:creationId xmlns:p14="http://schemas.microsoft.com/office/powerpoint/2010/main" val="1918518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10046" y="657446"/>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solidFill>
                  <a:srgbClr val="C00000"/>
                </a:solidFill>
              </a:rPr>
              <a:t>Attendance Requirement</a:t>
            </a:r>
          </a:p>
        </p:txBody>
      </p:sp>
      <p:sp>
        <p:nvSpPr>
          <p:cNvPr id="3" name="Content Placeholder 2"/>
          <p:cNvSpPr txBox="1">
            <a:spLocks/>
          </p:cNvSpPr>
          <p:nvPr/>
        </p:nvSpPr>
        <p:spPr>
          <a:xfrm>
            <a:off x="1196865" y="1947530"/>
            <a:ext cx="8229600" cy="838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smtClean="0"/>
              <a:t>Minimum</a:t>
            </a:r>
            <a:r>
              <a:rPr lang="en-US" dirty="0" smtClean="0"/>
              <a:t>: 75%</a:t>
            </a:r>
          </a:p>
        </p:txBody>
      </p:sp>
    </p:spTree>
    <p:extLst>
      <p:ext uri="{BB962C8B-B14F-4D97-AF65-F5344CB8AC3E}">
        <p14:creationId xmlns:p14="http://schemas.microsoft.com/office/powerpoint/2010/main" val="979261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2371061" y="249644"/>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sz="2800" b="1" dirty="0">
                <a:solidFill>
                  <a:srgbClr val="C00000"/>
                </a:solidFill>
              </a:rPr>
              <a:t>Books/ Journals/Website/Associations</a:t>
            </a:r>
          </a:p>
        </p:txBody>
      </p:sp>
      <p:sp>
        <p:nvSpPr>
          <p:cNvPr id="4" name="Rectangle 3"/>
          <p:cNvSpPr/>
          <p:nvPr/>
        </p:nvSpPr>
        <p:spPr>
          <a:xfrm>
            <a:off x="1175862" y="1011644"/>
            <a:ext cx="2390398" cy="385939"/>
          </a:xfrm>
          <a:prstGeom prst="rect">
            <a:avLst/>
          </a:prstGeom>
        </p:spPr>
        <p:txBody>
          <a:bodyPr wrap="none">
            <a:spAutoFit/>
          </a:bodyPr>
          <a:lstStyle/>
          <a:p>
            <a:pPr>
              <a:lnSpc>
                <a:spcPct val="106000"/>
              </a:lnSpc>
              <a:defRPr/>
            </a:pPr>
            <a:r>
              <a:rPr lang="en-IN" b="1" dirty="0">
                <a:cs typeface="Arial" charset="0"/>
              </a:rPr>
              <a:t>Reference Books:</a:t>
            </a:r>
            <a:endParaRPr lang="en-IN" sz="1200" dirty="0">
              <a:cs typeface="Arial" charset="0"/>
            </a:endParaRPr>
          </a:p>
        </p:txBody>
      </p:sp>
      <p:sp>
        <p:nvSpPr>
          <p:cNvPr id="6" name="Rectangle 5"/>
          <p:cNvSpPr/>
          <p:nvPr/>
        </p:nvSpPr>
        <p:spPr>
          <a:xfrm>
            <a:off x="1175862" y="1582341"/>
            <a:ext cx="9605552" cy="2308324"/>
          </a:xfrm>
          <a:prstGeom prst="rect">
            <a:avLst/>
          </a:prstGeom>
        </p:spPr>
        <p:txBody>
          <a:bodyPr wrap="square">
            <a:spAutoFit/>
          </a:bodyPr>
          <a:lstStyle/>
          <a:p>
            <a:pPr fontAlgn="base"/>
            <a:r>
              <a:rPr lang="en-IN" b="1" dirty="0" smtClean="0">
                <a:solidFill>
                  <a:srgbClr val="000000"/>
                </a:solidFill>
                <a:latin typeface="Times New Roman" panose="02020603050405020304" pitchFamily="18" charset="0"/>
              </a:rPr>
              <a:t>1</a:t>
            </a:r>
            <a:r>
              <a:rPr lang="en-IN" b="1" dirty="0">
                <a:solidFill>
                  <a:srgbClr val="000000"/>
                </a:solidFill>
                <a:latin typeface="Times New Roman" panose="02020603050405020304" pitchFamily="18" charset="0"/>
              </a:rPr>
              <a:t>.</a:t>
            </a:r>
            <a:r>
              <a:rPr lang="en-IN" dirty="0">
                <a:solidFill>
                  <a:srgbClr val="000000"/>
                </a:solidFill>
                <a:latin typeface="Times New Roman" panose="02020603050405020304" pitchFamily="18" charset="0"/>
              </a:rPr>
              <a:t> </a:t>
            </a:r>
            <a:r>
              <a:rPr lang="en-IN" dirty="0" err="1">
                <a:solidFill>
                  <a:srgbClr val="000000"/>
                </a:solidFill>
                <a:latin typeface="Times New Roman" panose="02020603050405020304" pitchFamily="18" charset="0"/>
              </a:rPr>
              <a:t>Dey</a:t>
            </a:r>
            <a:r>
              <a:rPr lang="en-IN" dirty="0">
                <a:solidFill>
                  <a:srgbClr val="000000"/>
                </a:solidFill>
                <a:latin typeface="Times New Roman" panose="02020603050405020304" pitchFamily="18" charset="0"/>
              </a:rPr>
              <a:t> P., Ghosh, M. Programming in C, 2nd Edition, 2018, Oxford University Press. </a:t>
            </a:r>
            <a:endParaRPr lang="en-IN" dirty="0">
              <a:solidFill>
                <a:srgbClr val="000000"/>
              </a:solidFill>
              <a:latin typeface="Segoe UI" panose="020B0502040204020203" pitchFamily="34" charset="0"/>
            </a:endParaRPr>
          </a:p>
          <a:p>
            <a:pPr fontAlgn="base"/>
            <a:r>
              <a:rPr lang="en-IN" b="1" dirty="0">
                <a:solidFill>
                  <a:srgbClr val="000000"/>
                </a:solidFill>
                <a:latin typeface="Times New Roman" panose="02020603050405020304" pitchFamily="18" charset="0"/>
              </a:rPr>
              <a:t>2</a:t>
            </a:r>
            <a:r>
              <a:rPr lang="en-IN" b="1" dirty="0" smtClean="0">
                <a:solidFill>
                  <a:srgbClr val="000000"/>
                </a:solidFill>
                <a:latin typeface="Times New Roman" panose="02020603050405020304" pitchFamily="18" charset="0"/>
              </a:rPr>
              <a:t>. </a:t>
            </a:r>
            <a:r>
              <a:rPr lang="en-IN" dirty="0" smtClean="0">
                <a:solidFill>
                  <a:srgbClr val="000000"/>
                </a:solidFill>
                <a:latin typeface="Times New Roman" panose="02020603050405020304" pitchFamily="18" charset="0"/>
              </a:rPr>
              <a:t>Kernighan </a:t>
            </a:r>
            <a:r>
              <a:rPr lang="en-IN" dirty="0">
                <a:solidFill>
                  <a:srgbClr val="000000"/>
                </a:solidFill>
                <a:latin typeface="Times New Roman" panose="02020603050405020304" pitchFamily="18" charset="0"/>
              </a:rPr>
              <a:t>B.W and Dennis M. Ritchie, The C Programming Language, 2nd Edition, 2015, Pearson Education India.  </a:t>
            </a:r>
            <a:endParaRPr lang="en-IN" dirty="0">
              <a:solidFill>
                <a:srgbClr val="000000"/>
              </a:solidFill>
              <a:latin typeface="Segoe UI" panose="020B0502040204020203" pitchFamily="34" charset="0"/>
            </a:endParaRPr>
          </a:p>
          <a:p>
            <a:pPr fontAlgn="base"/>
            <a:r>
              <a:rPr lang="en-IN" b="1" dirty="0">
                <a:solidFill>
                  <a:srgbClr val="000000"/>
                </a:solidFill>
                <a:latin typeface="Times New Roman" panose="02020603050405020304" pitchFamily="18" charset="0"/>
              </a:rPr>
              <a:t>3.</a:t>
            </a:r>
            <a:r>
              <a:rPr lang="en-IN" dirty="0">
                <a:solidFill>
                  <a:srgbClr val="000000"/>
                </a:solidFill>
                <a:latin typeface="Times New Roman" panose="02020603050405020304" pitchFamily="18" charset="0"/>
              </a:rPr>
              <a:t>  </a:t>
            </a:r>
            <a:r>
              <a:rPr lang="en-IN" dirty="0" err="1">
                <a:solidFill>
                  <a:srgbClr val="000000"/>
                </a:solidFill>
                <a:latin typeface="Times New Roman" panose="02020603050405020304" pitchFamily="18" charset="0"/>
              </a:rPr>
              <a:t>Yashvant</a:t>
            </a:r>
            <a:r>
              <a:rPr lang="en-IN" dirty="0">
                <a:solidFill>
                  <a:srgbClr val="000000"/>
                </a:solidFill>
                <a:latin typeface="Times New Roman" panose="02020603050405020304" pitchFamily="18" charset="0"/>
              </a:rPr>
              <a:t> P. </a:t>
            </a:r>
            <a:r>
              <a:rPr lang="en-IN" dirty="0" err="1">
                <a:solidFill>
                  <a:srgbClr val="000000"/>
                </a:solidFill>
                <a:latin typeface="Times New Roman" panose="02020603050405020304" pitchFamily="18" charset="0"/>
              </a:rPr>
              <a:t>Kanetkar</a:t>
            </a:r>
            <a:r>
              <a:rPr lang="en-IN" dirty="0">
                <a:solidFill>
                  <a:srgbClr val="000000"/>
                </a:solidFill>
                <a:latin typeface="Times New Roman" panose="02020603050405020304" pitchFamily="18" charset="0"/>
              </a:rPr>
              <a:t>, Let Us C, 16th Edition, 2019, BPB Publications.  </a:t>
            </a:r>
            <a:endParaRPr lang="en-IN" dirty="0">
              <a:solidFill>
                <a:srgbClr val="000000"/>
              </a:solidFill>
              <a:latin typeface="Segoe UI" panose="020B0502040204020203" pitchFamily="34" charset="0"/>
            </a:endParaRPr>
          </a:p>
          <a:p>
            <a:pPr fontAlgn="base"/>
            <a:r>
              <a:rPr lang="en-IN" b="1" dirty="0">
                <a:solidFill>
                  <a:srgbClr val="000000"/>
                </a:solidFill>
                <a:latin typeface="Times New Roman" panose="02020603050405020304" pitchFamily="18" charset="0"/>
              </a:rPr>
              <a:t>4.</a:t>
            </a:r>
            <a:r>
              <a:rPr lang="en-IN" dirty="0">
                <a:solidFill>
                  <a:srgbClr val="000000"/>
                </a:solidFill>
                <a:latin typeface="Times New Roman" panose="02020603050405020304" pitchFamily="18" charset="0"/>
              </a:rPr>
              <a:t>  Jacqueline, A., Jones and Keith Harrow, Problem Solving with C, Pearson Education. </a:t>
            </a:r>
            <a:endParaRPr lang="en-IN" dirty="0">
              <a:solidFill>
                <a:srgbClr val="000000"/>
              </a:solidFill>
              <a:latin typeface="Segoe UI" panose="020B0502040204020203" pitchFamily="34" charset="0"/>
            </a:endParaRPr>
          </a:p>
          <a:p>
            <a:pPr fontAlgn="base"/>
            <a:r>
              <a:rPr lang="en-IN" b="1" dirty="0">
                <a:solidFill>
                  <a:srgbClr val="000000"/>
                </a:solidFill>
                <a:latin typeface="Times New Roman" panose="02020603050405020304" pitchFamily="18" charset="0"/>
              </a:rPr>
              <a:t>5.</a:t>
            </a:r>
            <a:r>
              <a:rPr lang="en-IN" dirty="0">
                <a:solidFill>
                  <a:srgbClr val="000000"/>
                </a:solidFill>
                <a:latin typeface="Times New Roman" panose="02020603050405020304" pitchFamily="18" charset="0"/>
              </a:rPr>
              <a:t>  </a:t>
            </a:r>
            <a:r>
              <a:rPr lang="en-IN" dirty="0" err="1">
                <a:solidFill>
                  <a:srgbClr val="000000"/>
                </a:solidFill>
                <a:latin typeface="Times New Roman" panose="02020603050405020304" pitchFamily="18" charset="0"/>
              </a:rPr>
              <a:t>Nagraj</a:t>
            </a:r>
            <a:r>
              <a:rPr lang="en-IN" dirty="0">
                <a:solidFill>
                  <a:srgbClr val="000000"/>
                </a:solidFill>
                <a:latin typeface="Times New Roman" panose="02020603050405020304" pitchFamily="18" charset="0"/>
              </a:rPr>
              <a:t> G., C Programming for Problem Solving, Himalaya Publishing House. </a:t>
            </a:r>
            <a:endParaRPr lang="en-IN" dirty="0">
              <a:solidFill>
                <a:srgbClr val="000000"/>
              </a:solidFill>
              <a:latin typeface="Segoe UI" panose="020B0502040204020203" pitchFamily="34" charset="0"/>
            </a:endParaRPr>
          </a:p>
          <a:p>
            <a:pPr fontAlgn="base"/>
            <a:r>
              <a:rPr lang="en-IN" b="1" dirty="0">
                <a:solidFill>
                  <a:srgbClr val="000000"/>
                </a:solidFill>
                <a:latin typeface="Times New Roman" panose="02020603050405020304" pitchFamily="18" charset="0"/>
              </a:rPr>
              <a:t>6</a:t>
            </a:r>
            <a:r>
              <a:rPr lang="en-IN" b="1" dirty="0" smtClean="0">
                <a:solidFill>
                  <a:srgbClr val="000000"/>
                </a:solidFill>
                <a:latin typeface="Times New Roman" panose="02020603050405020304" pitchFamily="18" charset="0"/>
              </a:rPr>
              <a:t>. </a:t>
            </a:r>
            <a:r>
              <a:rPr lang="en-IN" sz="1600" u="sng" dirty="0" smtClean="0">
                <a:solidFill>
                  <a:srgbClr val="0000FF"/>
                </a:solidFill>
                <a:latin typeface="Times New Roman" panose="02020603050405020304" pitchFamily="18" charset="0"/>
                <a:hlinkClick r:id="rId2"/>
              </a:rPr>
              <a:t>https</a:t>
            </a:r>
            <a:r>
              <a:rPr lang="en-IN" sz="1600" u="sng" dirty="0">
                <a:solidFill>
                  <a:srgbClr val="0000FF"/>
                </a:solidFill>
                <a:latin typeface="Times New Roman" panose="02020603050405020304" pitchFamily="18" charset="0"/>
                <a:hlinkClick r:id="rId2"/>
              </a:rPr>
              <a:t>://onlinecourses.nptel.ac.in/noc22_cs40/preview</a:t>
            </a:r>
            <a:r>
              <a:rPr lang="en-IN" sz="1600" dirty="0">
                <a:solidFill>
                  <a:srgbClr val="0000FF"/>
                </a:solidFill>
                <a:latin typeface="Times New Roman" panose="02020603050405020304" pitchFamily="18" charset="0"/>
              </a:rPr>
              <a:t> </a:t>
            </a:r>
            <a:endParaRPr lang="en-IN" dirty="0">
              <a:solidFill>
                <a:srgbClr val="000000"/>
              </a:solidFill>
              <a:latin typeface="Segoe UI" panose="020B0502040204020203" pitchFamily="34" charset="0"/>
            </a:endParaRPr>
          </a:p>
          <a:p>
            <a:pPr fontAlgn="base"/>
            <a:r>
              <a:rPr lang="en-IN" b="1" dirty="0">
                <a:latin typeface="Times New Roman" panose="02020603050405020304" pitchFamily="18" charset="0"/>
              </a:rPr>
              <a:t>7</a:t>
            </a:r>
            <a:r>
              <a:rPr lang="en-IN" sz="1600" b="1" dirty="0" smtClean="0">
                <a:latin typeface="Times New Roman" panose="02020603050405020304" pitchFamily="18" charset="0"/>
              </a:rPr>
              <a:t>. </a:t>
            </a:r>
            <a:r>
              <a:rPr lang="en-IN" sz="1600" u="sng" dirty="0" smtClean="0">
                <a:solidFill>
                  <a:srgbClr val="0000FF"/>
                </a:solidFill>
                <a:latin typeface="Times New Roman" panose="02020603050405020304" pitchFamily="18" charset="0"/>
                <a:hlinkClick r:id="rId3"/>
              </a:rPr>
              <a:t>https</a:t>
            </a:r>
            <a:r>
              <a:rPr lang="en-IN" sz="1600" u="sng" dirty="0">
                <a:solidFill>
                  <a:srgbClr val="0000FF"/>
                </a:solidFill>
                <a:latin typeface="Times New Roman" panose="02020603050405020304" pitchFamily="18" charset="0"/>
                <a:hlinkClick r:id="rId3"/>
              </a:rPr>
              <a:t>://www.learn-c.org/</a:t>
            </a:r>
            <a:r>
              <a:rPr lang="en-IN" dirty="0">
                <a:solidFill>
                  <a:srgbClr val="000000"/>
                </a:solidFill>
                <a:latin typeface="Times New Roman" panose="02020603050405020304" pitchFamily="18" charset="0"/>
              </a:rPr>
              <a:t> </a:t>
            </a:r>
            <a:endParaRPr lang="en-IN"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2335524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568994" y="427702"/>
            <a:ext cx="5870575"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smtClean="0">
                <a:solidFill>
                  <a:srgbClr val="C00000"/>
                </a:solidFill>
              </a:rPr>
              <a:t>Feedback System</a:t>
            </a:r>
          </a:p>
        </p:txBody>
      </p:sp>
      <p:sp>
        <p:nvSpPr>
          <p:cNvPr id="3" name="Content Placeholder 2"/>
          <p:cNvSpPr txBox="1">
            <a:spLocks/>
          </p:cNvSpPr>
          <p:nvPr/>
        </p:nvSpPr>
        <p:spPr>
          <a:xfrm>
            <a:off x="850605" y="1488558"/>
            <a:ext cx="10483702" cy="32269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400" dirty="0" smtClean="0"/>
              <a:t>We  collect the feedback on curriculum aspects and courses from the students on the daily basis. Periodic analysis is made by ERP through the student feedback and suggestions given by the students after every lecture delivery.</a:t>
            </a:r>
          </a:p>
        </p:txBody>
      </p:sp>
    </p:spTree>
    <p:extLst>
      <p:ext uri="{BB962C8B-B14F-4D97-AF65-F5344CB8AC3E}">
        <p14:creationId xmlns:p14="http://schemas.microsoft.com/office/powerpoint/2010/main" val="3259404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021958" y="2527005"/>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i="1" smtClean="0">
                <a:solidFill>
                  <a:srgbClr val="C00000"/>
                </a:solidFill>
              </a:rPr>
              <a:t>Thank you</a:t>
            </a:r>
            <a:endParaRPr lang="en-IN" b="1" i="1" dirty="0" smtClean="0">
              <a:solidFill>
                <a:srgbClr val="C00000"/>
              </a:solidFill>
            </a:endParaRPr>
          </a:p>
        </p:txBody>
      </p:sp>
    </p:spTree>
    <p:extLst>
      <p:ext uri="{BB962C8B-B14F-4D97-AF65-F5344CB8AC3E}">
        <p14:creationId xmlns:p14="http://schemas.microsoft.com/office/powerpoint/2010/main" val="1049061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411</TotalTime>
  <Words>860</Words>
  <Application>Microsoft Office PowerPoint</Application>
  <PresentationFormat>Widescreen</PresentationFormat>
  <Paragraphs>80</Paragraphs>
  <Slides>18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Aptos</vt:lpstr>
      <vt:lpstr>Aptos Display</vt:lpstr>
      <vt:lpstr>Arial</vt:lpstr>
      <vt:lpstr>Calibri</vt:lpstr>
      <vt:lpstr>Segoe UI</vt:lpstr>
      <vt:lpstr>Times New Roman</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 SPECIFIC OUTCOMES(PSOs)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Shailendra Thapliyal</dc:creator>
  <cp:lastModifiedBy>Microsoft account</cp:lastModifiedBy>
  <cp:revision>17</cp:revision>
  <dcterms:created xsi:type="dcterms:W3CDTF">2024-09-12T08:00:02Z</dcterms:created>
  <dcterms:modified xsi:type="dcterms:W3CDTF">2026-01-14T05:32:22Z</dcterms:modified>
</cp:coreProperties>
</file>